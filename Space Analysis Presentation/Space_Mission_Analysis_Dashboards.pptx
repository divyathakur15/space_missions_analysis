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82" y="1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5773200451392852"/>
          <c:y val="0.15939922480620156"/>
          <c:w val="0.4040257648953301"/>
          <c:h val="0.81040051679586567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A96-4285-B824-5CDA487E3B48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A96-4285-B824-5CDA487E3B48}"/>
              </c:ext>
            </c:extLst>
          </c:dPt>
          <c:dPt>
            <c:idx val="2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A96-4285-B824-5CDA487E3B48}"/>
              </c:ext>
            </c:extLst>
          </c:dPt>
          <c:dPt>
            <c:idx val="3"/>
            <c:bubble3D val="0"/>
            <c:spPr>
              <a:solidFill>
                <a:srgbClr val="3498D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A96-4285-B824-5CDA487E3B48}"/>
              </c:ext>
            </c:extLst>
          </c:dPt>
          <c:dLbls>
            <c:dLbl>
              <c:idx val="0"/>
              <c:layout>
                <c:manualLayout>
                  <c:x val="0.17310789049919478"/>
                  <c:y val="2.4224806201550389E-2"/>
                </c:manualLayout>
              </c:layout>
              <c:numFmt formatCode="0.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0A96-4285-B824-5CDA487E3B48}"/>
                </c:ext>
              </c:extLst>
            </c:dLbl>
            <c:dLbl>
              <c:idx val="1"/>
              <c:layout>
                <c:manualLayout>
                  <c:x val="-8.4541062801932382E-2"/>
                  <c:y val="-0.13727390180878554"/>
                </c:manualLayout>
              </c:layout>
              <c:numFmt formatCode="0.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0A96-4285-B824-5CDA487E3B48}"/>
                </c:ext>
              </c:extLst>
            </c:dLbl>
            <c:dLbl>
              <c:idx val="2"/>
              <c:layout>
                <c:manualLayout>
                  <c:x val="0.1529790660225443"/>
                  <c:y val="-8.0749354005167973E-2"/>
                </c:manualLayout>
              </c:layout>
              <c:numFmt formatCode="0.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0A96-4285-B824-5CDA487E3B48}"/>
                </c:ext>
              </c:extLst>
            </c:dLbl>
            <c:dLbl>
              <c:idx val="3"/>
              <c:layout>
                <c:manualLayout>
                  <c:x val="8.0515297906602248E-3"/>
                  <c:y val="0.22609819121447028"/>
                </c:manualLayout>
              </c:layout>
              <c:numFmt formatCode="0.0%" sourceLinked="0"/>
              <c:spPr/>
              <c:txPr>
                <a:bodyPr/>
                <a:lstStyle/>
                <a:p>
                  <a:pPr>
                    <a:defRPr sz="800" b="0" i="0" u="none" strike="noStrike">
                      <a:solidFill>
                        <a:schemeClr val="bg1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0A96-4285-B824-5CDA487E3B48}"/>
                </c:ext>
              </c:extLst>
            </c:dLbl>
            <c:numFmt formatCode="0.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chemeClr val="bg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Success</c:v>
                </c:pt>
                <c:pt idx="1">
                  <c:v>Failure</c:v>
                </c:pt>
                <c:pt idx="2">
                  <c:v>Partial</c:v>
                </c:pt>
                <c:pt idx="3">
                  <c:v>Active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1361</c:v>
                </c:pt>
                <c:pt idx="1">
                  <c:v>221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A96-4285-B824-5CDA487E3B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egendEntry>
        <c:idx val="0"/>
        <c:txPr>
          <a:bodyPr/>
          <a:lstStyle/>
          <a:p>
            <a:pPr>
              <a:defRPr sz="800">
                <a:solidFill>
                  <a:schemeClr val="bg1"/>
                </a:solidFill>
              </a:defRPr>
            </a:pPr>
            <a:endParaRPr lang="en-US"/>
          </a:p>
        </c:txPr>
      </c:legendEntry>
      <c:legendEntry>
        <c:idx val="1"/>
        <c:txPr>
          <a:bodyPr/>
          <a:lstStyle/>
          <a:p>
            <a:pPr>
              <a:defRPr sz="800">
                <a:solidFill>
                  <a:schemeClr val="bg1"/>
                </a:solidFill>
              </a:defRPr>
            </a:pPr>
            <a:endParaRPr lang="en-US"/>
          </a:p>
        </c:txPr>
      </c:legendEntry>
      <c:legendEntry>
        <c:idx val="2"/>
        <c:txPr>
          <a:bodyPr/>
          <a:lstStyle/>
          <a:p>
            <a:pPr>
              <a:defRPr sz="800">
                <a:solidFill>
                  <a:schemeClr val="bg1"/>
                </a:solidFill>
              </a:defRPr>
            </a:pPr>
            <a:endParaRPr lang="en-US"/>
          </a:p>
        </c:txPr>
      </c:legendEntry>
      <c:legendEntry>
        <c:idx val="3"/>
        <c:txPr>
          <a:bodyPr/>
          <a:lstStyle/>
          <a:p>
            <a:pPr>
              <a:defRPr sz="800">
                <a:solidFill>
                  <a:schemeClr val="bg1"/>
                </a:solidFill>
              </a:defRPr>
            </a:pPr>
            <a:endParaRPr lang="en-US"/>
          </a:p>
        </c:txPr>
      </c:legendEntry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111638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Missions</c:v>
                </c:pt>
              </c:strCache>
            </c:strRef>
          </c:tx>
          <c:spPr>
            <a:solidFill>
              <a:srgbClr val="1A3A6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081-46AE-BD2B-B7B7AA99F5E4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0081-46AE-BD2B-B7B7AA99F5E4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0081-46AE-BD2B-B7B7AA99F5E4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0081-46AE-BD2B-B7B7AA99F5E4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0081-46AE-BD2B-B7B7AA99F5E4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0081-46AE-BD2B-B7B7AA99F5E4}"/>
              </c:ext>
            </c:extLst>
          </c:dPt>
          <c:dPt>
            <c:idx val="6"/>
            <c:invertIfNegative val="0"/>
            <c:bubble3D val="0"/>
            <c:spPr>
              <a:solidFill>
                <a:srgbClr val="00C8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0081-46AE-BD2B-B7B7AA99F5E4}"/>
              </c:ext>
            </c:extLst>
          </c:dPt>
          <c:dPt>
            <c:idx val="7"/>
            <c:invertIfNegative val="0"/>
            <c:bubble3D val="0"/>
            <c:spPr>
              <a:solidFill>
                <a:srgbClr val="00C8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0081-46AE-BD2B-B7B7AA99F5E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1950s</c:v>
                </c:pt>
                <c:pt idx="1">
                  <c:v>1960s</c:v>
                </c:pt>
                <c:pt idx="2">
                  <c:v>1970s</c:v>
                </c:pt>
                <c:pt idx="3">
                  <c:v>1980s</c:v>
                </c:pt>
                <c:pt idx="4">
                  <c:v>1990s</c:v>
                </c:pt>
                <c:pt idx="5">
                  <c:v>2000s</c:v>
                </c:pt>
                <c:pt idx="6">
                  <c:v>2010s</c:v>
                </c:pt>
                <c:pt idx="7">
                  <c:v>2020s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</c:v>
                </c:pt>
                <c:pt idx="1">
                  <c:v>976</c:v>
                </c:pt>
                <c:pt idx="2">
                  <c:v>48</c:v>
                </c:pt>
                <c:pt idx="3">
                  <c:v>43</c:v>
                </c:pt>
                <c:pt idx="4">
                  <c:v>65</c:v>
                </c:pt>
                <c:pt idx="5">
                  <c:v>108</c:v>
                </c:pt>
                <c:pt idx="6">
                  <c:v>158</c:v>
                </c:pt>
                <c:pt idx="7">
                  <c:v>121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0081-46AE-BD2B-B7B7AA99F5E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F2E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638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 %</c:v>
                </c:pt>
              </c:strCache>
            </c:strRef>
          </c:tx>
          <c:spPr>
            <a:solidFill>
              <a:srgbClr val="FF7F0E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ABC-4BD5-A537-3B955CBBEFBC}"/>
              </c:ext>
            </c:extLst>
          </c:dPt>
          <c:dPt>
            <c:idx val="1"/>
            <c:invertIfNegative val="0"/>
            <c:bubble3D val="0"/>
            <c:spPr>
              <a:solidFill>
                <a:srgbClr val="7F7F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ABC-4BD5-A537-3B955CBBEFBC}"/>
              </c:ext>
            </c:extLst>
          </c:dPt>
          <c:dPt>
            <c:idx val="2"/>
            <c:invertIfNegative val="0"/>
            <c:bubble3D val="0"/>
            <c:spPr>
              <a:solidFill>
                <a:srgbClr val="2CA0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ABC-4BD5-A537-3B955CBBEFBC}"/>
              </c:ext>
            </c:extLst>
          </c:dPt>
          <c:dPt>
            <c:idx val="3"/>
            <c:invertIfNegative val="0"/>
            <c:bubble3D val="0"/>
            <c:spPr>
              <a:solidFill>
                <a:srgbClr val="FF66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ABC-4BD5-A537-3B955CBBEFBC}"/>
              </c:ext>
            </c:extLst>
          </c:dPt>
          <c:dPt>
            <c:idx val="4"/>
            <c:invertIfNegative val="0"/>
            <c:bubble3D val="0"/>
            <c:spPr>
              <a:solidFill>
                <a:srgbClr val="9467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ABC-4BD5-A537-3B955CBBEFBC}"/>
              </c:ext>
            </c:extLst>
          </c:dPt>
          <c:dPt>
            <c:idx val="5"/>
            <c:invertIfNegative val="0"/>
            <c:bubble3D val="0"/>
            <c:spPr>
              <a:solidFill>
                <a:srgbClr val="1F77B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ABC-4BD5-A537-3B955CBBEFBC}"/>
              </c:ext>
            </c:extLst>
          </c:dPt>
          <c:dPt>
            <c:idx val="6"/>
            <c:invertIfNegative val="0"/>
            <c:bubble3D val="0"/>
            <c:spPr>
              <a:solidFill>
                <a:srgbClr val="D627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ABC-4BD5-A537-3B955CBBEFB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China</c:v>
                </c:pt>
                <c:pt idx="1">
                  <c:v>Other</c:v>
                </c:pt>
                <c:pt idx="2">
                  <c:v>Europe</c:v>
                </c:pt>
                <c:pt idx="3">
                  <c:v>India</c:v>
                </c:pt>
                <c:pt idx="4">
                  <c:v>Japan</c:v>
                </c:pt>
                <c:pt idx="5">
                  <c:v>USA</c:v>
                </c:pt>
                <c:pt idx="6">
                  <c:v>Russia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96</c:v>
                </c:pt>
                <c:pt idx="2">
                  <c:v>92</c:v>
                </c:pt>
                <c:pt idx="3">
                  <c:v>88</c:v>
                </c:pt>
                <c:pt idx="4">
                  <c:v>86</c:v>
                </c:pt>
                <c:pt idx="5">
                  <c:v>85</c:v>
                </c:pt>
                <c:pt idx="6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AABC-4BD5-A537-3B955CBBEFB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F2E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638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Missions</c:v>
                </c:pt>
              </c:strCache>
            </c:strRef>
          </c:tx>
          <c:spPr>
            <a:solidFill>
              <a:srgbClr val="1F77B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CB3-49B9-B90C-83FB121422AB}"/>
              </c:ext>
            </c:extLst>
          </c:dPt>
          <c:dPt>
            <c:idx val="1"/>
            <c:invertIfNegative val="0"/>
            <c:bubble3D val="0"/>
            <c:spPr>
              <a:solidFill>
                <a:srgbClr val="D627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CB3-49B9-B90C-83FB121422AB}"/>
              </c:ext>
            </c:extLst>
          </c:dPt>
          <c:dPt>
            <c:idx val="2"/>
            <c:invertIfNegative val="0"/>
            <c:bubble3D val="0"/>
            <c:spPr>
              <a:solidFill>
                <a:srgbClr val="FF66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CB3-49B9-B90C-83FB121422AB}"/>
              </c:ext>
            </c:extLst>
          </c:dPt>
          <c:dPt>
            <c:idx val="3"/>
            <c:invertIfNegative val="0"/>
            <c:bubble3D val="0"/>
            <c:spPr>
              <a:solidFill>
                <a:srgbClr val="7F7F7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CB3-49B9-B90C-83FB121422AB}"/>
              </c:ext>
            </c:extLst>
          </c:dPt>
          <c:dPt>
            <c:idx val="4"/>
            <c:invertIfNegative val="0"/>
            <c:bubble3D val="0"/>
            <c:spPr>
              <a:solidFill>
                <a:srgbClr val="2CA02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ECB3-49B9-B90C-83FB121422AB}"/>
              </c:ext>
            </c:extLst>
          </c:dPt>
          <c:dPt>
            <c:idx val="5"/>
            <c:invertIfNegative val="0"/>
            <c:bubble3D val="0"/>
            <c:spPr>
              <a:solidFill>
                <a:srgbClr val="9467B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ECB3-49B9-B90C-83FB121422AB}"/>
              </c:ext>
            </c:extLst>
          </c:dPt>
          <c:dPt>
            <c:idx val="6"/>
            <c:invertIfNegative val="0"/>
            <c:bubble3D val="0"/>
            <c:spPr>
              <a:solidFill>
                <a:srgbClr val="FF7F0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ECB3-49B9-B90C-83FB121422A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USA</c:v>
                </c:pt>
                <c:pt idx="1">
                  <c:v>Russia</c:v>
                </c:pt>
                <c:pt idx="2">
                  <c:v>India</c:v>
                </c:pt>
                <c:pt idx="3">
                  <c:v>Other</c:v>
                </c:pt>
                <c:pt idx="4">
                  <c:v>Europe</c:v>
                </c:pt>
                <c:pt idx="5">
                  <c:v>Japan</c:v>
                </c:pt>
                <c:pt idx="6">
                  <c:v>China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729</c:v>
                </c:pt>
                <c:pt idx="1">
                  <c:v>433</c:v>
                </c:pt>
                <c:pt idx="2">
                  <c:v>153</c:v>
                </c:pt>
                <c:pt idx="3">
                  <c:v>99</c:v>
                </c:pt>
                <c:pt idx="4">
                  <c:v>71</c:v>
                </c:pt>
                <c:pt idx="5">
                  <c:v>58</c:v>
                </c:pt>
                <c:pt idx="6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ECB3-49B9-B90C-83FB121422A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F2E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638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Missions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76C-43C7-B91A-CE2A2C1A3015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676C-43C7-B91A-CE2A2C1A3015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676C-43C7-B91A-CE2A2C1A3015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676C-43C7-B91A-CE2A2C1A3015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676C-43C7-B91A-CE2A2C1A3015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676C-43C7-B91A-CE2A2C1A3015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676C-43C7-B91A-CE2A2C1A301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LEO</c:v>
                </c:pt>
                <c:pt idx="1">
                  <c:v>SSO</c:v>
                </c:pt>
                <c:pt idx="2">
                  <c:v>Lunar</c:v>
                </c:pt>
                <c:pt idx="3">
                  <c:v>GEO</c:v>
                </c:pt>
                <c:pt idx="4">
                  <c:v>HEO</c:v>
                </c:pt>
                <c:pt idx="5">
                  <c:v>Suborbital</c:v>
                </c:pt>
                <c:pt idx="6">
                  <c:v>Mars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715</c:v>
                </c:pt>
                <c:pt idx="1">
                  <c:v>197</c:v>
                </c:pt>
                <c:pt idx="2">
                  <c:v>101</c:v>
                </c:pt>
                <c:pt idx="3">
                  <c:v>79</c:v>
                </c:pt>
                <c:pt idx="4">
                  <c:v>75</c:v>
                </c:pt>
                <c:pt idx="5">
                  <c:v>74</c:v>
                </c:pt>
                <c:pt idx="6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676C-43C7-B91A-CE2A2C1A301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F2E5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B0BEC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163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645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97280" y="1005840"/>
            <a:ext cx="54864" cy="54864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3200400" y="548640"/>
            <a:ext cx="54864" cy="54864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217920" y="822960"/>
            <a:ext cx="54864" cy="54864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138160" y="1645920"/>
            <a:ext cx="54864" cy="54864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920240" y="3840480"/>
            <a:ext cx="54864" cy="54864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6766560" y="4206240"/>
            <a:ext cx="54864" cy="54864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572000" y="1828800"/>
            <a:ext cx="54864" cy="54864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412480" y="3200400"/>
            <a:ext cx="54864" cy="54864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32320" y="731520"/>
            <a:ext cx="16459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dirty="0">
                <a:solidFill>
                  <a:srgbClr val="000000"/>
                </a:solidFill>
              </a:rPr>
              <a:t>🚀</a:t>
            </a:r>
            <a:endParaRPr lang="en-US" sz="8000" dirty="0"/>
          </a:p>
        </p:txBody>
      </p:sp>
      <p:sp>
        <p:nvSpPr>
          <p:cNvPr id="12" name="Text 10"/>
          <p:cNvSpPr/>
          <p:nvPr/>
        </p:nvSpPr>
        <p:spPr>
          <a:xfrm>
            <a:off x="457200" y="64008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 MISSION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457200" y="1417320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kern="0" spc="3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ANALYTICAL DASHBOARDS</a:t>
            </a:r>
            <a:endParaRPr lang="en-US" sz="3000" dirty="0"/>
          </a:p>
        </p:txBody>
      </p:sp>
      <p:sp>
        <p:nvSpPr>
          <p:cNvPr id="14" name="Shape 12"/>
          <p:cNvSpPr/>
          <p:nvPr/>
        </p:nvSpPr>
        <p:spPr>
          <a:xfrm>
            <a:off x="457200" y="2176272"/>
            <a:ext cx="59436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Pipeline  ·  MySQL  ·  Power BI  ·  5-Page Dashboard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834640"/>
            <a:ext cx="1591056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54864" cy="7772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30352" y="287121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1,584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530352" y="32918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76272" y="2834640"/>
            <a:ext cx="1591056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176272" y="2834640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249424" y="287121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2249424" y="32918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895344" y="2834640"/>
            <a:ext cx="1591056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6C3FC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95344" y="2834640"/>
            <a:ext cx="54864" cy="77724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968496" y="287121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C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3968496" y="32918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614416" y="2834640"/>
            <a:ext cx="1591056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614416" y="2834640"/>
            <a:ext cx="54864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687568" y="287121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687568" y="32918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33488" y="2834640"/>
            <a:ext cx="1591056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7333488" y="2834640"/>
            <a:ext cx="54864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7406640" y="2871216"/>
            <a:ext cx="144475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7406640" y="3291840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Sites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57200" y="4617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1,584 Records  |  1957–2025  |  23 Columns  |  36→23 Cleaned  |  7 SQL Views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INTRODUCTION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This Project About?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1316736"/>
            <a:ext cx="8503920" cy="640080"/>
          </a:xfrm>
          <a:prstGeom prst="rect">
            <a:avLst/>
          </a:prstGeom>
          <a:solidFill>
            <a:srgbClr val="111638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1316736"/>
            <a:ext cx="54864" cy="6400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13533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Objective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1353312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68 years of global space missions to uncover patterns in launch activity, mission success rates, rocket reliability, and orbital strategy across 7 major space programs.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2039112"/>
            <a:ext cx="8503920" cy="640080"/>
          </a:xfrm>
          <a:prstGeom prst="rect">
            <a:avLst/>
          </a:prstGeom>
          <a:solidFill>
            <a:srgbClr val="111638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20040" y="2039112"/>
            <a:ext cx="54864" cy="6400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07568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Tools Used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377440" y="2075688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(data cleaning)  ·  MySQL (import, type conversion, SQL views)  ·  Power BI Desktop (5-page interactive dashboard)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20040" y="2761488"/>
            <a:ext cx="8503920" cy="640080"/>
          </a:xfrm>
          <a:prstGeom prst="rect">
            <a:avLst/>
          </a:prstGeom>
          <a:solidFill>
            <a:srgbClr val="111638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2761488"/>
            <a:ext cx="54864" cy="6400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02920" y="27980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Dataset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377440" y="2798064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1,584 missions spanning 1957–2025. Original 36-column raw CSV cleaned to 23 final columns with 2 new derived fields (Decade, Spacecraft_Status).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483864"/>
            <a:ext cx="8503920" cy="640080"/>
          </a:xfrm>
          <a:prstGeom prst="rect">
            <a:avLst/>
          </a:prstGeom>
          <a:solidFill>
            <a:srgbClr val="111638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0040" y="3483864"/>
            <a:ext cx="54864" cy="6400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02920" y="35204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Scope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77440" y="3520440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country groups: USA, Russia/USSR, China, India, Europe/ESA, Japan, Other Countries. Covers all mission types from Military/Recon to Human Spaceflight.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4206240"/>
            <a:ext cx="8503920" cy="640080"/>
          </a:xfrm>
          <a:prstGeom prst="rect">
            <a:avLst/>
          </a:prstGeom>
          <a:solidFill>
            <a:srgbClr val="111638"/>
          </a:solidFill>
          <a:ln w="12700">
            <a:solidFill>
              <a:srgbClr val="1A3A6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20040" y="4206240"/>
            <a:ext cx="54864" cy="6400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24281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Deliverable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377440" y="4242816"/>
            <a:ext cx="6309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6-page Power BI report (Home + 5 analysis pages) with 7 SQL views, 7 DAX measures, and synced global slicers.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38160" y="48920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114800"/>
          </a:xfrm>
          <a:prstGeom prst="rect">
            <a:avLst/>
          </a:prstGeom>
          <a:solidFill>
            <a:srgbClr val="111638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4864" cy="4114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8869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Final Columns — By Group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" y="1252728"/>
            <a:ext cx="45720" cy="34747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21208" y="125272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(4)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920240" y="125272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Mission_Name  ·  Launch_Date  ·  Launch_Year  ·  Decade★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20624" y="1700784"/>
            <a:ext cx="4572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" y="170078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(3)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20240" y="170078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Country_Group  ·  Country  ·  Agency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20624" y="2148840"/>
            <a:ext cx="45720" cy="347472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21208" y="21488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6C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(4)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920240" y="214884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Launch_Vehicle  ·  Rocket_Family  ·  Launch_Site  ·  Launch_Complex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20624" y="2596896"/>
            <a:ext cx="4572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21208" y="2596896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(2)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920240" y="2596896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Mission_Type (12 cats)  ·  Orbit_Class (13 cats)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20624" y="3044952"/>
            <a:ext cx="45720" cy="34747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21208" y="3044952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(1)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920240" y="3044952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Satellite_Mass_kg  (32% filled — 512 rows)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20624" y="3493008"/>
            <a:ext cx="4572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21208" y="3493008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(2)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920240" y="3493008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Mission_Outcome (4 groups)  ·  Spacecraft_Status★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20624" y="3941064"/>
            <a:ext cx="45720" cy="34747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21208" y="3941064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ECONOMICS (3)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20240" y="3941064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Estimated_Cost_USD_M  ·  Fuel_Type  ·  Operational_Life_Yrs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20624" y="4389120"/>
            <a:ext cx="45720" cy="347472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21208" y="4389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 (4)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920240" y="4389120"/>
            <a:ext cx="2331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 ·  Launch_ID  ·  Data_Source  ·  Dataset_Source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20624" y="475488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= newly derived column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572000" y="822960"/>
            <a:ext cx="4389120" cy="1920240"/>
          </a:xfrm>
          <a:prstGeom prst="rect">
            <a:avLst/>
          </a:prstGeom>
          <a:solidFill>
            <a:srgbClr val="111638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4572000" y="822960"/>
            <a:ext cx="54864" cy="1920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4754880" y="8869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Fill Rates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754880" y="12435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Complete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812280" y="1298448"/>
            <a:ext cx="1756756" cy="228600"/>
          </a:xfrm>
          <a:prstGeom prst="rect">
            <a:avLst/>
          </a:prstGeom>
          <a:solidFill>
            <a:srgbClr val="2CA02C"/>
          </a:solidFill>
          <a:ln w="12700">
            <a:solidFill>
              <a:srgbClr val="2CA0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8569036" y="1298448"/>
            <a:ext cx="3920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754880" y="163677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Filled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12280" y="1700784"/>
            <a:ext cx="339634" cy="21945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7197634" y="1691640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cols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754880" y="20299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33% Filled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812280" y="2093976"/>
            <a:ext cx="849086" cy="219456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707086" y="2084832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cols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54880" y="24231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 Filled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812280" y="2487168"/>
            <a:ext cx="339634" cy="210312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197634" y="2478024"/>
            <a:ext cx="694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cols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0" y="2880360"/>
            <a:ext cx="4389120" cy="2057400"/>
          </a:xfrm>
          <a:prstGeom prst="rect">
            <a:avLst/>
          </a:prstGeom>
          <a:solidFill>
            <a:srgbClr val="111638"/>
          </a:solidFill>
          <a:ln w="12700">
            <a:solidFill>
              <a:srgbClr val="6C3FC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4572000" y="2880360"/>
            <a:ext cx="54864" cy="205740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4754880" y="294436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Summary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754880" y="3273552"/>
            <a:ext cx="3931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raw columns  →  23 final columns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columns dropped  (redundant / unusable)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columns normalised  (types, categories)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new columns derived  (Decade, Spacecraft_Status)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problem date rows fixed manually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Empty strings converted to NULL  (launch_site)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ranges converted to numeric midpoints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8138160" y="48920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PROCESS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868680"/>
            <a:ext cx="1572768" cy="1508760"/>
          </a:xfrm>
          <a:prstGeom prst="rect">
            <a:avLst/>
          </a:prstGeom>
          <a:solidFill>
            <a:srgbClr val="111638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54864" cy="150876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896112" y="914400"/>
            <a:ext cx="420624" cy="420624"/>
          </a:xfrm>
          <a:prstGeom prst="ellipse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96112" y="914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93192" y="138988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Import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93192" y="1700784"/>
            <a:ext cx="1426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missions_raw table with ALL columns as VARCHAR — guarantees zero import errors on any data format.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11096" y="1618488"/>
            <a:ext cx="128016" cy="0"/>
          </a:xfrm>
          <a:prstGeom prst="line">
            <a:avLst/>
          </a:prstGeom>
          <a:noFill/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039112" y="868680"/>
            <a:ext cx="1572768" cy="1508760"/>
          </a:xfrm>
          <a:prstGeom prst="rect">
            <a:avLst/>
          </a:prstGeom>
          <a:solidFill>
            <a:srgbClr val="111638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2039112" y="868680"/>
            <a:ext cx="54864" cy="150876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615184" y="914400"/>
            <a:ext cx="420624" cy="420624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615184" y="914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112264" y="138988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Import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112264" y="1700784"/>
            <a:ext cx="1426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MASTER_CLEANED_FINAL.csv via MySQL Workbench Table Data Import Wizard into missions_raw.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30168" y="1618488"/>
            <a:ext cx="128016" cy="0"/>
          </a:xfrm>
          <a:prstGeom prst="line">
            <a:avLst/>
          </a:prstGeom>
          <a:noFill/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758184" y="868680"/>
            <a:ext cx="1572768" cy="1508760"/>
          </a:xfrm>
          <a:prstGeom prst="rect">
            <a:avLst/>
          </a:prstGeom>
          <a:solidFill>
            <a:srgbClr val="111638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758184" y="868680"/>
            <a:ext cx="54864" cy="15087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4334256" y="914400"/>
            <a:ext cx="420624" cy="420624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334256" y="914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831336" y="138988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7 Dates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831336" y="1700784"/>
            <a:ext cx="1426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Manually fix 7 problem rows (range dates, planned dates, mixed formats) by mission name using MAKEDATE().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349240" y="1618488"/>
            <a:ext cx="128016" cy="0"/>
          </a:xfrm>
          <a:prstGeom prst="line">
            <a:avLst/>
          </a:prstGeom>
          <a:noFill/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477256" y="868680"/>
            <a:ext cx="1572768" cy="1508760"/>
          </a:xfrm>
          <a:prstGeom prst="rect">
            <a:avLst/>
          </a:prstGeom>
          <a:solidFill>
            <a:srgbClr val="111638"/>
          </a:solidFill>
          <a:ln w="12700">
            <a:solidFill>
              <a:srgbClr val="6C3FC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477256" y="868680"/>
            <a:ext cx="54864" cy="150876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053328" y="914400"/>
            <a:ext cx="420624" cy="420624"/>
          </a:xfrm>
          <a:prstGeom prst="ellipse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53328" y="914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5550408" y="138988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C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Convert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550408" y="1700784"/>
            <a:ext cx="1426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clean columns, convert VARCHAR→DATE, SMALLINT, DECIMAL using STR_TO_DATE, CAST, NULLIF, TRIM.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068312" y="1618488"/>
            <a:ext cx="128016" cy="0"/>
          </a:xfrm>
          <a:prstGeom prst="line">
            <a:avLst/>
          </a:prstGeom>
          <a:noFill/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196328" y="868680"/>
            <a:ext cx="1572768" cy="1508760"/>
          </a:xfrm>
          <a:prstGeom prst="rect">
            <a:avLst/>
          </a:prstGeom>
          <a:solidFill>
            <a:srgbClr val="111638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7196328" y="868680"/>
            <a:ext cx="54864" cy="15087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772400" y="914400"/>
            <a:ext cx="420624" cy="42062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7772400" y="914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269480" y="138988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Clean Table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7269480" y="1700784"/>
            <a:ext cx="142646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missions_clean with proper data types. INSERT SELECT from missions_raw using converted columns.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20040" y="2578608"/>
            <a:ext cx="8503920" cy="2331720"/>
          </a:xfrm>
          <a:prstGeom prst="rect">
            <a:avLst/>
          </a:prstGeom>
          <a:solidFill>
            <a:srgbClr val="111638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20040" y="2578608"/>
            <a:ext cx="54864" cy="23317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02920" y="2642616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Concept — NULL vs Empty String vs 'Unknown'</a:t>
            </a:r>
            <a:endParaRPr lang="en-US" sz="13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999232"/>
          <a:ext cx="8229600" cy="1536192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 SQL Filter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Column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E74C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value — blank cell in CSV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col IS NOT NULL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satellite_mass_kg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F39C1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String ""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Cell existed with no 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col != ""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fuel_type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b="1" dirty="0">
                          <a:solidFill>
                            <a:srgbClr val="00C8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"Unknown"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text value = Unknown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27AE6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col NOT IN ("Unknown")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3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orbit_class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6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63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4" name="Text 41"/>
          <p:cNvSpPr/>
          <p:nvPr/>
        </p:nvSpPr>
        <p:spPr>
          <a:xfrm>
            <a:off x="8138160" y="48920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UNDERSTANDING — KEY FIELDS &amp; 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5029200" cy="4114800"/>
          </a:xfrm>
          <a:prstGeom prst="rect">
            <a:avLst/>
          </a:prstGeom>
          <a:solidFill>
            <a:srgbClr val="111638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4864" cy="411480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886968"/>
            <a:ext cx="4663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Fields Explained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24358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Country_Group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423160" y="124358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clean groups — primary slicer for all dashboards. Never use raw Country column in visuals.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0624" y="1719072"/>
            <a:ext cx="4736592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76479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Mission_Outcome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423160" y="176479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values: Success (86%), Failure (14%), Partial, Active. BepiColombo = Active (launched 2018).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0624" y="2240280"/>
            <a:ext cx="4736592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28600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Orbit_Class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423160" y="22860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types. Has 'Unknown' and 'Other' text — filter: NOT IN ('Unknown','Other').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20624" y="2761488"/>
            <a:ext cx="4736592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80720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Fuel_Type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423160" y="280720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families. Missing stored as empty string '' not NULL — filter: fuel_type != ''.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20624" y="3282696"/>
            <a:ext cx="4736592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328416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Decade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423160" y="332841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column: '1960s','1970s'… for decade-level grouping. 100% filled.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20624" y="3803904"/>
            <a:ext cx="4736592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849624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Spacecraft_Status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423160" y="384962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Derived: Decommissioned / Active / Lost-Failed / Planned. Only 33% filled.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0624" y="4325112"/>
            <a:ext cx="4736592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37083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Estimated_Cost_USD_M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423160" y="43708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midpoints from ranges. Only 503/1584 rows (32%) — always add coverage note.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532120" y="822960"/>
            <a:ext cx="3337560" cy="2011680"/>
          </a:xfrm>
          <a:prstGeom prst="rect">
            <a:avLst/>
          </a:prstGeom>
          <a:solidFill>
            <a:srgbClr val="111638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5532120" y="822960"/>
            <a:ext cx="54864" cy="201168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5715000" y="886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669280" y="1234440"/>
            <a:ext cx="1341120" cy="265176"/>
          </a:xfrm>
          <a:prstGeom prst="rect">
            <a:avLst/>
          </a:prstGeom>
          <a:solidFill>
            <a:srgbClr val="111638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15000" y="1243584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Raw CSV (36 cols)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669280" y="1545336"/>
            <a:ext cx="1341120" cy="265176"/>
          </a:xfrm>
          <a:prstGeom prst="rect">
            <a:avLst/>
          </a:prstGeom>
          <a:solidFill>
            <a:srgbClr val="0A0E2A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5715000" y="1554480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Python Cleaning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0" y="1856232"/>
            <a:ext cx="1341120" cy="265176"/>
          </a:xfrm>
          <a:prstGeom prst="rect">
            <a:avLst/>
          </a:prstGeom>
          <a:solidFill>
            <a:srgbClr val="111638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715000" y="1865376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23-col CSV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669280" y="2167128"/>
            <a:ext cx="1341120" cy="265176"/>
          </a:xfrm>
          <a:prstGeom prst="rect">
            <a:avLst/>
          </a:prstGeom>
          <a:solidFill>
            <a:srgbClr val="0A0E2A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715000" y="2176272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MySQL Raw Table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669280" y="2478024"/>
            <a:ext cx="1341120" cy="265176"/>
          </a:xfrm>
          <a:prstGeom prst="rect">
            <a:avLst/>
          </a:prstGeom>
          <a:solidFill>
            <a:srgbClr val="111638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5715000" y="2487168"/>
            <a:ext cx="2926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Type Conversions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7283335" y="1234440"/>
            <a:ext cx="1403465" cy="265176"/>
          </a:xfrm>
          <a:prstGeom prst="rect">
            <a:avLst/>
          </a:prstGeom>
          <a:solidFill>
            <a:srgbClr val="0A0E2A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7362582" y="1239012"/>
            <a:ext cx="10321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missions_clean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86312" y="1563624"/>
            <a:ext cx="1400487" cy="265176"/>
          </a:xfrm>
          <a:prstGeom prst="rect">
            <a:avLst/>
          </a:prstGeom>
          <a:solidFill>
            <a:srgbClr val="111638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362582" y="1572768"/>
            <a:ext cx="833489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7 SQL Views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286312" y="1883664"/>
            <a:ext cx="1400486" cy="265176"/>
          </a:xfrm>
          <a:prstGeom prst="rect">
            <a:avLst/>
          </a:prstGeom>
          <a:solidFill>
            <a:srgbClr val="0A0E2A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7362582" y="1867592"/>
            <a:ext cx="1227790" cy="2903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Power BI Dashboard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586984" y="2971800"/>
            <a:ext cx="3282696" cy="1965960"/>
          </a:xfrm>
          <a:prstGeom prst="rect">
            <a:avLst/>
          </a:prstGeom>
          <a:solidFill>
            <a:srgbClr val="111638"/>
          </a:solidFill>
          <a:ln w="12700">
            <a:solidFill>
              <a:srgbClr val="6C3FC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5532120" y="2971800"/>
            <a:ext cx="54864" cy="196596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5623560" y="3063240"/>
            <a:ext cx="30368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Outcome Split</a:t>
            </a:r>
            <a:endParaRPr lang="en-US" sz="1200" dirty="0"/>
          </a:p>
        </p:txBody>
      </p:sp>
      <p:graphicFrame>
        <p:nvGraphicFramePr>
          <p:cNvPr id="51" name="Chart 0"/>
          <p:cNvGraphicFramePr/>
          <p:nvPr>
            <p:extLst>
              <p:ext uri="{D42A27DB-BD31-4B8C-83A1-F6EECF244321}">
                <p14:modId xmlns:p14="http://schemas.microsoft.com/office/powerpoint/2010/main" val="3525578682"/>
              </p:ext>
            </p:extLst>
          </p:nvPr>
        </p:nvGraphicFramePr>
        <p:xfrm>
          <a:off x="5669280" y="3328416"/>
          <a:ext cx="3154680" cy="1572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2" name="Text 49"/>
          <p:cNvSpPr/>
          <p:nvPr/>
        </p:nvSpPr>
        <p:spPr>
          <a:xfrm>
            <a:off x="8138160" y="48920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— KEY INSIGHTS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of 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2103120"/>
          </a:xfrm>
          <a:prstGeom prst="rect">
            <a:avLst/>
          </a:prstGeom>
          <a:solidFill>
            <a:srgbClr val="111638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11480" y="86868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by Decade</a:t>
            </a:r>
            <a:endParaRPr lang="en-US" sz="11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74320" y="1170432"/>
          <a:ext cx="41148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Shape 6"/>
          <p:cNvSpPr/>
          <p:nvPr/>
        </p:nvSpPr>
        <p:spPr>
          <a:xfrm>
            <a:off x="4617720" y="822960"/>
            <a:ext cx="4206240" cy="2103120"/>
          </a:xfrm>
          <a:prstGeom prst="rect">
            <a:avLst/>
          </a:prstGeom>
          <a:solidFill>
            <a:srgbClr val="111638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4754880" y="868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% by Country</a:t>
            </a:r>
            <a:endParaRPr lang="en-US" sz="1100" dirty="0"/>
          </a:p>
        </p:txBody>
      </p:sp>
      <p:graphicFrame>
        <p:nvGraphicFramePr>
          <p:cNvPr id="11" name="Chart 1"/>
          <p:cNvGraphicFramePr/>
          <p:nvPr/>
        </p:nvGraphicFramePr>
        <p:xfrm>
          <a:off x="4617720" y="1170432"/>
          <a:ext cx="420624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2" name="Shape 8"/>
          <p:cNvSpPr/>
          <p:nvPr/>
        </p:nvSpPr>
        <p:spPr>
          <a:xfrm>
            <a:off x="274320" y="3063240"/>
            <a:ext cx="4114800" cy="1874520"/>
          </a:xfrm>
          <a:prstGeom prst="rect">
            <a:avLst/>
          </a:prstGeom>
          <a:solidFill>
            <a:srgbClr val="111638"/>
          </a:solidFill>
          <a:ln w="12700">
            <a:solidFill>
              <a:srgbClr val="6C3FC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411480" y="310896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C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Missions by Country</a:t>
            </a:r>
            <a:endParaRPr lang="en-US" sz="1100" dirty="0"/>
          </a:p>
        </p:txBody>
      </p:sp>
      <p:graphicFrame>
        <p:nvGraphicFramePr>
          <p:cNvPr id="14" name="Chart 2"/>
          <p:cNvGraphicFramePr/>
          <p:nvPr/>
        </p:nvGraphicFramePr>
        <p:xfrm>
          <a:off x="274320" y="3401568"/>
          <a:ext cx="411480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5" name="Shape 10"/>
          <p:cNvSpPr/>
          <p:nvPr/>
        </p:nvSpPr>
        <p:spPr>
          <a:xfrm>
            <a:off x="4617720" y="3063240"/>
            <a:ext cx="4206240" cy="1874520"/>
          </a:xfrm>
          <a:prstGeom prst="rect">
            <a:avLst/>
          </a:prstGeom>
          <a:solidFill>
            <a:srgbClr val="111638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1"/>
          <p:cNvSpPr/>
          <p:nvPr/>
        </p:nvSpPr>
        <p:spPr>
          <a:xfrm>
            <a:off x="4754880" y="310896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Orbit Classes</a:t>
            </a:r>
            <a:endParaRPr lang="en-US" sz="1100" dirty="0"/>
          </a:p>
        </p:txBody>
      </p:sp>
      <p:graphicFrame>
        <p:nvGraphicFramePr>
          <p:cNvPr id="17" name="Chart 3"/>
          <p:cNvGraphicFramePr/>
          <p:nvPr/>
        </p:nvGraphicFramePr>
        <p:xfrm>
          <a:off x="4617720" y="3401568"/>
          <a:ext cx="4206240" cy="1508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8" name="Text 12"/>
          <p:cNvSpPr/>
          <p:nvPr/>
        </p:nvSpPr>
        <p:spPr>
          <a:xfrm>
            <a:off x="8138160" y="48920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VIEWS CREATION — 7 VIEWS FOR POWER BI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of 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41248"/>
            <a:ext cx="4160520" cy="987552"/>
          </a:xfrm>
          <a:prstGeom prst="rect">
            <a:avLst/>
          </a:prstGeom>
          <a:solidFill>
            <a:srgbClr val="111638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41248"/>
            <a:ext cx="54864" cy="987552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02336" y="89611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vw_mission_summary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02336" y="11430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flat table — all 23 key columns. Used by most visuals across all 5 pages.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02336" y="160934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launch_year &lt;= 2025, NULLIF(launch_site, '')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74320" y="1911096"/>
            <a:ext cx="4160520" cy="987552"/>
          </a:xfrm>
          <a:prstGeom prst="rect">
            <a:avLst/>
          </a:prstGeom>
          <a:solidFill>
            <a:srgbClr val="111638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911096"/>
            <a:ext cx="54864" cy="987552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02336" y="196596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vw_country_performance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02336" y="22128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KPIs — total missions, success rate, avg cost, type diversity per country group.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02336" y="267919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launch_year &lt;= 2025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274320" y="2980944"/>
            <a:ext cx="4160520" cy="987552"/>
          </a:xfrm>
          <a:prstGeom prst="rect">
            <a:avLst/>
          </a:prstGeom>
          <a:solidFill>
            <a:srgbClr val="111638"/>
          </a:solidFill>
          <a:ln w="12700">
            <a:solidFill>
              <a:srgbClr val="6C3FC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980944"/>
            <a:ext cx="54864" cy="987552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02336" y="303580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vw_yearly_trends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02336" y="328269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— missions and success rate by year, decade, and country for trend charts.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02336" y="3749040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launch_year IS NOT NULL AND &lt;= 2025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" y="4050792"/>
            <a:ext cx="4160520" cy="987552"/>
          </a:xfrm>
          <a:prstGeom prst="rect">
            <a:avLst/>
          </a:prstGeom>
          <a:solidFill>
            <a:srgbClr val="111638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274320" y="4050792"/>
            <a:ext cx="54864" cy="9875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02336" y="410565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vw_rocket_reliability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02336" y="4352544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analysis — reliability %, total launches, payload avg. HAVING total_launches &gt;= 3.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02336" y="481888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launch_year &lt;= 2025, min 3 launches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4617720" y="841248"/>
            <a:ext cx="4160520" cy="987552"/>
          </a:xfrm>
          <a:prstGeom prst="rect">
            <a:avLst/>
          </a:prstGeom>
          <a:solidFill>
            <a:srgbClr val="111638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17720" y="841248"/>
            <a:ext cx="54864" cy="98755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745736" y="89611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vw_orbit_analysis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45736" y="114300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Orbital distribution — mission count, avg mass, success rate per orbit class.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745736" y="1609344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orbit_class NOT IN ('Unknown','Other')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4617720" y="1911096"/>
            <a:ext cx="4160520" cy="987552"/>
          </a:xfrm>
          <a:prstGeom prst="rect">
            <a:avLst/>
          </a:prstGeom>
          <a:solidFill>
            <a:srgbClr val="111638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617720" y="1911096"/>
            <a:ext cx="54864" cy="9875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745736" y="196596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vw_launch_site_map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45736" y="221284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data — 47 launch sites with coordinates, success rate, first/last launch year.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745736" y="267919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launch_site IS NOT NULL AND != ''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17720" y="2980944"/>
            <a:ext cx="4160520" cy="914400"/>
          </a:xfrm>
          <a:prstGeom prst="rect">
            <a:avLst/>
          </a:prstGeom>
          <a:solidFill>
            <a:srgbClr val="111638"/>
          </a:solidFill>
          <a:ln w="12700">
            <a:solidFill>
              <a:srgbClr val="B0BEC5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4617720" y="2980944"/>
            <a:ext cx="54864" cy="914400"/>
          </a:xfrm>
          <a:prstGeom prst="rect">
            <a:avLst/>
          </a:prstGeom>
          <a:solidFill>
            <a:srgbClr val="B0BEC5"/>
          </a:solidFill>
          <a:ln w="12700">
            <a:solidFill>
              <a:srgbClr val="B0BEC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745736" y="303580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vw_technology_evolution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745736" y="3282696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&amp; propulsion trends — missions and avg cost by decade, fuel type, mission type.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4745736" y="3675888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Filter: fuel_type != '' AND decade IS NOT NULL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5083266" y="4105656"/>
            <a:ext cx="3229428" cy="653796"/>
          </a:xfrm>
          <a:prstGeom prst="rect">
            <a:avLst/>
          </a:prstGeom>
          <a:solidFill>
            <a:srgbClr val="1A3A6B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200178" y="4000500"/>
            <a:ext cx="3112516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Principle — Each view uses the correct WHERE filter based on how that column stores missing data (NULL vs '' vs 'Unknown'). Wrong filter = wrong numbers.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8138160" y="48920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 — 5-PAGE DESIGN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of 14</a:t>
            </a:r>
            <a:endParaRPr lang="en-US" sz="1100" dirty="0"/>
          </a:p>
        </p:txBody>
      </p:sp>
      <p:pic>
        <p:nvPicPr>
          <p:cNvPr id="6" name="Image 0" descr="/home/claude/slide_fron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77240"/>
            <a:ext cx="5303520" cy="3063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777240"/>
            <a:ext cx="3108960" cy="3063240"/>
          </a:xfrm>
          <a:prstGeom prst="rect">
            <a:avLst/>
          </a:prstGeom>
          <a:solidFill>
            <a:srgbClr val="111638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5806440" y="777240"/>
            <a:ext cx="54864" cy="3063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5961888" y="8412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6-Page Report Structure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961888" y="11887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Home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7242048" y="118872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hub with 5 dashboard buttons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961888" y="1618488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Page 1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7242048" y="1618488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Overview — KPIs + trends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961888" y="2048256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Page 2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7242048" y="2048256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&amp; Trends — decade analysis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5961888" y="2478024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Page 3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7242048" y="2478024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&amp; Agency — deep dive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961888" y="2907792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Page 4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7242048" y="2907792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Rockets &amp; Launch Sites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961888" y="333756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🛸 Page 5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242048" y="333756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 &amp; Orbital Analysis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74320" y="3931920"/>
            <a:ext cx="5303520" cy="1005840"/>
          </a:xfrm>
          <a:prstGeom prst="rect">
            <a:avLst/>
          </a:prstGeom>
          <a:solidFill>
            <a:srgbClr val="111638"/>
          </a:solidFill>
          <a:ln w="12700">
            <a:solidFill>
              <a:srgbClr val="6C3FC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274320" y="3931920"/>
            <a:ext cx="54864" cy="100584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457200" y="3986784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C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Slicers — Synced Across All 5 Pages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57200" y="4251960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country_group  ·  launch_year (range)  ·  decade (tiles)  ·  mission_outcome  ·  mission_type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57200" y="4489704"/>
            <a:ext cx="49377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sync: View → Sync Slicers → tick all 5 pages for each slicer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806440" y="3931920"/>
            <a:ext cx="3108960" cy="1005840"/>
          </a:xfrm>
          <a:prstGeom prst="rect">
            <a:avLst/>
          </a:prstGeom>
          <a:solidFill>
            <a:srgbClr val="111638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5"/>
          <p:cNvSpPr/>
          <p:nvPr/>
        </p:nvSpPr>
        <p:spPr>
          <a:xfrm>
            <a:off x="5806440" y="3931920"/>
            <a:ext cx="54864" cy="10058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5961888" y="3986784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DAX Measures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5961888" y="425196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Missions  ·  Success Rate %  ·  Failure Rate %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Mass kg  ·  Avg Cost USD 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With Cost  ·  Cumulative Missions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8138160" y="48920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1 — EXECUTIVE OVERVIEW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118872"/>
            <a:ext cx="1298448" cy="292608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0" y="11887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029968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54864" cy="7772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84124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1,584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" y="12618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Missions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804672"/>
            <a:ext cx="2029968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50592" y="804672"/>
            <a:ext cx="54864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23744" y="84124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85.9%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23744" y="12618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804672"/>
            <a:ext cx="2029968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26864" y="804672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0016" y="84124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 Yrs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0016" y="12618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Span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804672"/>
            <a:ext cx="2029968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6C3FC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03136" y="804672"/>
            <a:ext cx="54864" cy="77724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76288" y="84124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C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76288" y="12618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Rockets</a:t>
            </a:r>
            <a:endParaRPr lang="en-US" sz="900" dirty="0"/>
          </a:p>
        </p:txBody>
      </p:sp>
      <p:pic>
        <p:nvPicPr>
          <p:cNvPr id="23" name="Image 0" descr="/home/claude/slide_exec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709928"/>
            <a:ext cx="5486400" cy="324612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274320" y="1709928"/>
            <a:ext cx="5486400" cy="3246120"/>
          </a:xfrm>
          <a:prstGeom prst="rect">
            <a:avLst/>
          </a:prstGeom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961888" y="1709928"/>
            <a:ext cx="2926080" cy="3246120"/>
          </a:xfrm>
          <a:prstGeom prst="rect">
            <a:avLst/>
          </a:prstGeom>
          <a:solidFill>
            <a:srgbClr val="111638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961888" y="1709928"/>
            <a:ext cx="54864" cy="324612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108192" y="1764792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080760" y="2084832"/>
            <a:ext cx="2697480" cy="0"/>
          </a:xfrm>
          <a:prstGeom prst="line">
            <a:avLst/>
          </a:prstGeom>
          <a:noFill/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108192" y="21579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📌 USA Leads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108192" y="241401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729 missions — 46% of all launches. Followed by Russia/USSR with 433 (27%).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080760" y="2825496"/>
            <a:ext cx="2697480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108192" y="28620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Space Race Peak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108192" y="311810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 account for 976 missions — more than all other decades combined.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080760" y="3529584"/>
            <a:ext cx="2697480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108192" y="35661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High Success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108192" y="382219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1,361 successes vs 221 failures. Overall success rate of 85.9%.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080760" y="4233672"/>
            <a:ext cx="2697480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108192" y="4270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🛰️ Mission Mix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108192" y="452628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Military/Recon (26%) and Earth Observation (17%) dominate mission types.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8138160" y="48920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2 — HISTORY &amp; TRENDS ANALYSIS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118872"/>
            <a:ext cx="1298448" cy="292608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0" y="11887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029968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54864" cy="7772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84124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" y="12618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1950s Success Rate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804672"/>
            <a:ext cx="2029968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50592" y="804672"/>
            <a:ext cx="54864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23744" y="84124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23744" y="12618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2010s Success Rate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804672"/>
            <a:ext cx="2029968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26864" y="804672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0016" y="84124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976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0016" y="12618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 Missions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804672"/>
            <a:ext cx="2029968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03136" y="804672"/>
            <a:ext cx="54864" cy="7772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76288" y="84124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76288" y="12618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Fuel Share</a:t>
            </a:r>
            <a:endParaRPr lang="en-US" sz="900" dirty="0"/>
          </a:p>
        </p:txBody>
      </p:sp>
      <p:pic>
        <p:nvPicPr>
          <p:cNvPr id="23" name="Image 0" descr="/home/claude/slide_histo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709928"/>
            <a:ext cx="5486400" cy="324612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274320" y="1709928"/>
            <a:ext cx="5486400" cy="3246120"/>
          </a:xfrm>
          <a:prstGeom prst="rect">
            <a:avLst/>
          </a:prstGeom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961888" y="1709928"/>
            <a:ext cx="2926080" cy="3246120"/>
          </a:xfrm>
          <a:prstGeom prst="rect">
            <a:avLst/>
          </a:prstGeom>
          <a:solidFill>
            <a:srgbClr val="111638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961888" y="1709928"/>
            <a:ext cx="54864" cy="32461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108192" y="1764792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080760" y="2084832"/>
            <a:ext cx="2697480" cy="0"/>
          </a:xfrm>
          <a:prstGeom prst="line">
            <a:avLst/>
          </a:prstGeom>
          <a:noFill/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108192" y="21579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Dramatic Improvement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108192" y="241401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 rose from 57% in the 1950s to 94% in the 2010s — a 37-point gain.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080760" y="2825496"/>
            <a:ext cx="2697480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108192" y="28620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Cold War Spike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108192" y="311810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 Space Race drove an unprecedented volume peak — 62% of all recorded missions.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080760" y="3529584"/>
            <a:ext cx="2697480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108192" y="35661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🔋 Fuel Shift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108192" y="382219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propellant dominates at 64%. Ion/Electric engines rising sharply from 2010s onward.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080760" y="4233672"/>
            <a:ext cx="2697480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108192" y="4270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Country Heatmap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108192" y="452628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Russia/USSR was absent post-2010s in the matrix — replaced by China's rapid expansion.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8138160" y="48920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3 — COUNTRY &amp; AGENCY ANALYSIS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118872"/>
            <a:ext cx="1298448" cy="292608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0" y="11887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 of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029968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54864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84124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" y="12618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Success Rate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804672"/>
            <a:ext cx="2029968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50592" y="804672"/>
            <a:ext cx="54864" cy="7772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23744" y="84124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$1,062M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23744" y="12618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Avg Cost (highest)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804672"/>
            <a:ext cx="2029968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26864" y="804672"/>
            <a:ext cx="54864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0016" y="84124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$227M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0016" y="12618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 Avg Cost (lowest)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804672"/>
            <a:ext cx="2029968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03136" y="804672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76288" y="84124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478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76288" y="12618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USAF Missions (top agency)</a:t>
            </a:r>
            <a:endParaRPr lang="en-US" sz="900" dirty="0"/>
          </a:p>
        </p:txBody>
      </p:sp>
      <p:pic>
        <p:nvPicPr>
          <p:cNvPr id="23" name="Image 0" descr="/home/claude/slide_countr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709928"/>
            <a:ext cx="5486400" cy="324612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274320" y="1709928"/>
            <a:ext cx="5486400" cy="3246120"/>
          </a:xfrm>
          <a:prstGeom prst="rect">
            <a:avLst/>
          </a:prstGeom>
          <a:ln w="12700">
            <a:solidFill>
              <a:srgbClr val="6C3FC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961888" y="1709928"/>
            <a:ext cx="2926080" cy="3246120"/>
          </a:xfrm>
          <a:prstGeom prst="rect">
            <a:avLst/>
          </a:prstGeom>
          <a:solidFill>
            <a:srgbClr val="111638"/>
          </a:solidFill>
          <a:ln w="12700">
            <a:solidFill>
              <a:srgbClr val="6C3FC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961888" y="1709928"/>
            <a:ext cx="54864" cy="324612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108192" y="1764792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080760" y="2084832"/>
            <a:ext cx="2697480" cy="0"/>
          </a:xfrm>
          <a:prstGeom prst="line">
            <a:avLst/>
          </a:prstGeom>
          <a:noFill/>
          <a:ln w="12700">
            <a:solidFill>
              <a:srgbClr val="6C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108192" y="21579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China Perfection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108192" y="241401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achieved a 100% success rate across all 41 recorded missions — most remarkable record.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080760" y="2825496"/>
            <a:ext cx="2697480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108192" y="28620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ISRO Rising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108192" y="311810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ISRO shows the steepest modern growth — 88% success on significantly lower budgets.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080760" y="3529584"/>
            <a:ext cx="2697480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108192" y="35661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Cost Leaders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108192" y="382219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avg $1,062M is highest; India $227M is lowest — over 4x difference in cost efficiency.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080760" y="4233672"/>
            <a:ext cx="2697480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108192" y="4270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6C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🏛️ Agency Dominance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108192" y="452628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USAF (478) and Soviet Space Program (379) collectively account for 54% of all missions.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8138160" y="48920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4 — ROCKETS &amp; LAUNCH SITES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118872"/>
            <a:ext cx="1298448" cy="292608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0" y="11887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 of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029968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54864" cy="7772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84124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" y="12618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Voskhod Launches (most used)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804672"/>
            <a:ext cx="2029968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50592" y="804672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23744" y="84124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318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23744" y="12618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Vandenberg Launches (top site)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804672"/>
            <a:ext cx="2029968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26864" y="804672"/>
            <a:ext cx="54864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0016" y="84124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95%+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0016" y="12618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II / Soyuz-FG Reliability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804672"/>
            <a:ext cx="2029968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6C3FC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03136" y="804672"/>
            <a:ext cx="54864" cy="77724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76288" y="84124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C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76288" y="12618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Rocket Variants</a:t>
            </a:r>
            <a:endParaRPr lang="en-US" sz="900" dirty="0"/>
          </a:p>
        </p:txBody>
      </p:sp>
      <p:pic>
        <p:nvPicPr>
          <p:cNvPr id="23" name="Image 0" descr="/home/claude/slide_rocket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709928"/>
            <a:ext cx="5486400" cy="324612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274320" y="1709928"/>
            <a:ext cx="5486400" cy="3246120"/>
          </a:xfrm>
          <a:prstGeom prst="rect">
            <a:avLst/>
          </a:prstGeom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961888" y="1709928"/>
            <a:ext cx="2926080" cy="3246120"/>
          </a:xfrm>
          <a:prstGeom prst="rect">
            <a:avLst/>
          </a:prstGeom>
          <a:solidFill>
            <a:srgbClr val="111638"/>
          </a:solidFill>
          <a:ln w="12700">
            <a:solidFill>
              <a:srgbClr val="F39C1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961888" y="1709928"/>
            <a:ext cx="54864" cy="32461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108192" y="1764792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080760" y="2084832"/>
            <a:ext cx="2697480" cy="0"/>
          </a:xfrm>
          <a:prstGeom prst="line">
            <a:avLst/>
          </a:prstGeom>
          <a:noFill/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108192" y="21579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Most Flown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108192" y="241401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Voskhod leads with 82 launches. Top 5 rockets are all Cold War-era US/Soviet vehicles.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080760" y="2825496"/>
            <a:ext cx="2697480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108192" y="28620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📍 Top 3 Sites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108192" y="311810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Vandenberg (318), Baikonur (250) and Cape Canaveral (220) — 3 sites = 50% of all launches.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080760" y="3529584"/>
            <a:ext cx="2697480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108192" y="35661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🛡️ High Reliability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108192" y="382219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II, Soyuz-FG, Vega and H-IIA all exceed 95% reliability — proven veteran platforms.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080760" y="4233672"/>
            <a:ext cx="2697480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108192" y="4270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Falcon 9 Era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108192" y="452628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 shows Falcon 9 emergence in 2010s — representing the commercial reusable revolution.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8138160" y="48920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7132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5 — MISSION &amp; ORBITAL ANALYSIS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589520" y="118872"/>
            <a:ext cx="1298448" cy="29260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589520" y="118872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A0E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 of 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804672"/>
            <a:ext cx="2029968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804672"/>
            <a:ext cx="54864" cy="77724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47472" y="84124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47472" y="12618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Missions (45% of total)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450592" y="804672"/>
            <a:ext cx="2029968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450592" y="804672"/>
            <a:ext cx="54864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523744" y="84124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94%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523744" y="12618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SSO Success Rate (highest)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626864" y="804672"/>
            <a:ext cx="2029968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26864" y="804672"/>
            <a:ext cx="54864" cy="77724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700016" y="84124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8,645 kg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700016" y="12618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Lunar Payload (heaviest)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03136" y="804672"/>
            <a:ext cx="2029968" cy="777240"/>
          </a:xfrm>
          <a:prstGeom prst="rect">
            <a:avLst/>
          </a:prstGeom>
          <a:solidFill>
            <a:srgbClr val="111638"/>
          </a:solidFill>
          <a:ln w="12700">
            <a:solidFill>
              <a:srgbClr val="E74C3C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803136" y="804672"/>
            <a:ext cx="54864" cy="7772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76288" y="841248"/>
            <a:ext cx="188366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77%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876288" y="1261872"/>
            <a:ext cx="1883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 Success Rate (lowest)</a:t>
            </a:r>
            <a:endParaRPr lang="en-US" sz="900" dirty="0"/>
          </a:p>
        </p:txBody>
      </p:sp>
      <p:pic>
        <p:nvPicPr>
          <p:cNvPr id="23" name="Image 0" descr="/home/claude/slide_mission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709928"/>
            <a:ext cx="5486400" cy="3246120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274320" y="1709928"/>
            <a:ext cx="5486400" cy="3246120"/>
          </a:xfrm>
          <a:prstGeom prst="rect">
            <a:avLst/>
          </a:prstGeom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2"/>
          <p:cNvSpPr/>
          <p:nvPr/>
        </p:nvSpPr>
        <p:spPr>
          <a:xfrm>
            <a:off x="5961888" y="1709928"/>
            <a:ext cx="2926080" cy="3246120"/>
          </a:xfrm>
          <a:prstGeom prst="rect">
            <a:avLst/>
          </a:prstGeom>
          <a:solidFill>
            <a:srgbClr val="111638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961888" y="1709928"/>
            <a:ext cx="54864" cy="3246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6108192" y="1764792"/>
            <a:ext cx="26334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080760" y="2084832"/>
            <a:ext cx="2697480" cy="0"/>
          </a:xfrm>
          <a:prstGeom prst="line">
            <a:avLst/>
          </a:prstGeom>
          <a:noFill/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108192" y="2157984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LEO Dominates</a:t>
            </a:r>
            <a:endParaRPr lang="en-US" sz="950" dirty="0"/>
          </a:p>
        </p:txBody>
      </p:sp>
      <p:sp>
        <p:nvSpPr>
          <p:cNvPr id="30" name="Text 27"/>
          <p:cNvSpPr/>
          <p:nvPr/>
        </p:nvSpPr>
        <p:spPr>
          <a:xfrm>
            <a:off x="6108192" y="2414016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Earth Orbit hosts 715 missions (45%) — driven by ISS, Earth observation, and cubesats.</a:t>
            </a:r>
            <a:endParaRPr lang="en-US" sz="850" dirty="0"/>
          </a:p>
        </p:txBody>
      </p:sp>
      <p:sp>
        <p:nvSpPr>
          <p:cNvPr id="31" name="Shape 28"/>
          <p:cNvSpPr/>
          <p:nvPr/>
        </p:nvSpPr>
        <p:spPr>
          <a:xfrm>
            <a:off x="6080760" y="2825496"/>
            <a:ext cx="2697480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108192" y="2862072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SSO Precision</a:t>
            </a:r>
            <a:endParaRPr lang="en-US" sz="950" dirty="0"/>
          </a:p>
        </p:txBody>
      </p:sp>
      <p:sp>
        <p:nvSpPr>
          <p:cNvPr id="33" name="Text 30"/>
          <p:cNvSpPr/>
          <p:nvPr/>
        </p:nvSpPr>
        <p:spPr>
          <a:xfrm>
            <a:off x="6108192" y="3118104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Sun-synchronous orbit has the highest success rate at 94% — well-understood and repeatable.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080760" y="3529584"/>
            <a:ext cx="2697480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2"/>
          <p:cNvSpPr/>
          <p:nvPr/>
        </p:nvSpPr>
        <p:spPr>
          <a:xfrm>
            <a:off x="6108192" y="356616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🌕 Lunar Heavy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6108192" y="3822192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Lunar missions carry the heaviest average payloads at 8,645 kg due to propulsion demands.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080760" y="4233672"/>
            <a:ext cx="2697480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108192" y="427024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Mars is Hard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6108192" y="4526280"/>
            <a:ext cx="26517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Mars/Interplanetary has the lowest success at 77% — deep-space navigation remains the frontier.</a:t>
            </a:r>
            <a:endParaRPr lang="en-US" sz="850" dirty="0"/>
          </a:p>
        </p:txBody>
      </p:sp>
      <p:sp>
        <p:nvSpPr>
          <p:cNvPr id="40" name="Text 37"/>
          <p:cNvSpPr/>
          <p:nvPr/>
        </p:nvSpPr>
        <p:spPr>
          <a:xfrm>
            <a:off x="8138160" y="48920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9144000" cy="36576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73152"/>
            <a:ext cx="6858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INSIGHTS, CONCLUSION &amp; RECOMMENDATIONS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274320" y="73152"/>
            <a:ext cx="85953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14 of 14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4114800" cy="4069080"/>
          </a:xfrm>
          <a:prstGeom prst="rect">
            <a:avLst/>
          </a:prstGeom>
          <a:solidFill>
            <a:srgbClr val="111638"/>
          </a:solidFill>
          <a:ln w="12700">
            <a:solidFill>
              <a:srgbClr val="00C8F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54864" cy="4069080"/>
          </a:xfrm>
          <a:prstGeom prst="rect">
            <a:avLst/>
          </a:prstGeom>
          <a:solidFill>
            <a:srgbClr val="00C8FF"/>
          </a:solidFill>
          <a:ln w="12700">
            <a:solidFill>
              <a:srgbClr val="00C8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8869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24358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Success Rate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148840" y="124358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achieved 100% success rate. Russia/USSR lowest at 83%, reflecting early Cold War failures.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0624" y="1700784"/>
            <a:ext cx="3822192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175564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Space Race Peak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148840" y="175564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1960s had 976 missions — 62% of all missions. Decade accounts for biggest spike in launch activity.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20624" y="2212848"/>
            <a:ext cx="3822192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57200" y="2267712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Most Launched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48840" y="2267712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Voskhod (82 launches) is the most used rocket. USA and Russia dominate top 10 vehicles.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20624" y="2724912"/>
            <a:ext cx="3822192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779776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Launch Sites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148840" y="2779776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Vandenberg (318), Baikonur (250) and Cape Canaveral (220) are the top 3 sites globally.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0624" y="3236976"/>
            <a:ext cx="3822192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2918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🛸 Orbit Preference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2148840" y="3291840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LEO dominates at 715 missions (45%). SSO, Lunar and GEO follow as next most used orbits.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20624" y="3749040"/>
            <a:ext cx="3822192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803904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Cost Data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148840" y="3803904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32% of missions have cost data. China avg $1,062M is highest, India lowest at $227M.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20624" y="4261104"/>
            <a:ext cx="3822192" cy="0"/>
          </a:xfrm>
          <a:prstGeom prst="line">
            <a:avLst/>
          </a:prstGeom>
          <a:noFill/>
          <a:ln w="12700">
            <a:solidFill>
              <a:srgbClr val="1A3A6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57200" y="4315968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Fuel Evolution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2148840" y="4315968"/>
            <a:ext cx="21031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 fuel dominates (64%). Ion/Electric rising in 2010s-2020s for commercial satellites.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17720" y="822960"/>
            <a:ext cx="4206240" cy="1874520"/>
          </a:xfrm>
          <a:prstGeom prst="rect">
            <a:avLst/>
          </a:prstGeom>
          <a:solidFill>
            <a:srgbClr val="111638"/>
          </a:solidFill>
          <a:ln w="12700">
            <a:solidFill>
              <a:srgbClr val="F5A62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617720" y="822960"/>
            <a:ext cx="54864" cy="1874520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00600" y="88696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800600" y="1216152"/>
            <a:ext cx="3886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Successfully cleaned 36-column raw dataset to 23 production-ready columns.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import pipeline with proper type handling eliminates all data errors.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SQL views provide clean, filtered data optimised for each dashboard page.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Power BI dashboard delivers actionable insights with global slicer sync.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of missions are fully verified via Launch Library 2 UUID traceability.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17720" y="2834640"/>
            <a:ext cx="4206240" cy="2057400"/>
          </a:xfrm>
          <a:prstGeom prst="rect">
            <a:avLst/>
          </a:prstGeom>
          <a:solidFill>
            <a:srgbClr val="111638"/>
          </a:solidFill>
          <a:ln w="12700">
            <a:solidFill>
              <a:srgbClr val="6C3FC4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4617720" y="2834640"/>
            <a:ext cx="54864" cy="2057400"/>
          </a:xfrm>
          <a:prstGeom prst="rect">
            <a:avLst/>
          </a:prstGeom>
          <a:solidFill>
            <a:srgbClr val="6C3FC4"/>
          </a:solidFill>
          <a:ln w="12700">
            <a:solidFill>
              <a:srgbClr val="6C3F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800600" y="289864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3F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Future Scope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00600" y="3236976"/>
            <a:ext cx="3886200" cy="1572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cost data gaps using public sources to increase 32% coverage.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launch coordinates for all 47 sites to enable accurate map visuals.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monthly data refresh by connecting to Launch Library 2 API.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crew manifest data to enhance Human Spaceflight mission analysis.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ML model to predict mission success probability from vehicle + orbit.</a:t>
            </a:r>
            <a:endParaRPr lang="en-US" sz="880" dirty="0"/>
          </a:p>
          <a:p>
            <a:pPr marL="342900" indent="-342900">
              <a:buSzPct val="100000"/>
              <a:buChar char="•"/>
            </a:pPr>
            <a:r>
              <a:rPr lang="en-US" sz="88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include payload operator and customer for commercial analysis.</a:t>
            </a:r>
            <a:endParaRPr lang="en-US" sz="880" dirty="0"/>
          </a:p>
        </p:txBody>
      </p:sp>
      <p:sp>
        <p:nvSpPr>
          <p:cNvPr id="37" name="Text 35"/>
          <p:cNvSpPr/>
          <p:nvPr/>
        </p:nvSpPr>
        <p:spPr>
          <a:xfrm>
            <a:off x="8138160" y="489204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2258</Words>
  <Application>Microsoft Office PowerPoint</Application>
  <PresentationFormat>On-screen Show (16:9)</PresentationFormat>
  <Paragraphs>334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Space Mission Analytical Dashboards</dc:title>
  <dc:subject>PptxGenJS Presentation</dc:subject>
  <dc:creator>PptxGenJS</dc:creator>
  <cp:lastModifiedBy>divya.thakur1506@gmail.com</cp:lastModifiedBy>
  <cp:revision>3</cp:revision>
  <dcterms:created xsi:type="dcterms:W3CDTF">2026-03-08T10:15:31Z</dcterms:created>
  <dcterms:modified xsi:type="dcterms:W3CDTF">2026-03-08T10:40:33Z</dcterms:modified>
</cp:coreProperties>
</file>